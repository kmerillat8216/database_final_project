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2"/>
  </p:sldMasterIdLst>
  <p:notesMasterIdLst>
    <p:notesMasterId r:id="rId4"/>
  </p:notesMasterIdLst>
  <p:handoutMasterIdLst>
    <p:handoutMasterId r:id="rId5"/>
  </p:handoutMasterIdLst>
  <p:sldIdLst>
    <p:sldId id="256" r:id="rId3"/>
  </p:sldIdLst>
  <p:sldSz cx="43891200" cy="329184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17" d="100"/>
          <a:sy n="17" d="100"/>
        </p:scale>
        <p:origin x="1243" y="110"/>
      </p:cViewPr>
      <p:guideLst/>
    </p:cSldViewPr>
  </p:slideViewPr>
  <p:notesTextViewPr>
    <p:cViewPr>
      <p:scale>
        <a:sx n="1" d="1"/>
        <a:sy n="1" d="1"/>
      </p:scale>
      <p:origin x="0" y="0"/>
    </p:cViewPr>
  </p:notesTextViewPr>
  <p:notesViewPr>
    <p:cSldViewPr snapToGrid="0" showGuides="1">
      <p:cViewPr varScale="1">
        <p:scale>
          <a:sx n="69" d="100"/>
          <a:sy n="69" d="100"/>
        </p:scale>
        <p:origin x="2706" y="5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1.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handoutMaster" Target="handoutMasters/handoutMaster1.xml"/><Relationship Id="rId4" Type="http://schemas.openxmlformats.org/officeDocument/2006/relationships/notesMaster" Target="notesMasters/notes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C0B079-A316-4C9B-B165-DF9EA8325D2C}" type="datetimeFigureOut">
              <a:rPr lang="en-US" smtClean="0"/>
              <a:t>12/5/2025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A0EAE6-B4B6-49B7-9049-B371250BE0F4}" type="slidenum">
              <a:rPr lang="en-US" smtClean="0"/>
              <a:t>‹#›</a:t>
            </a:fld>
            <a:endParaRPr lang="en-US"/>
          </a:p>
        </p:txBody>
      </p:sp>
    </p:spTree>
    <p:extLst>
      <p:ext uri="{BB962C8B-B14F-4D97-AF65-F5344CB8AC3E}">
        <p14:creationId xmlns:p14="http://schemas.microsoft.com/office/powerpoint/2010/main" val="14724663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F28AB8-57D1-494F-9851-055AD867E790}" type="datetimeFigureOut">
              <a:rPr lang="en-US" smtClean="0"/>
              <a:t>12/5/2025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7F044-5458-4B2E-BFA0-52AAA1C529D4}" type="slidenum">
              <a:rPr lang="en-US" smtClean="0"/>
              <a:t>‹#›</a:t>
            </a:fld>
            <a:endParaRPr lang="en-US"/>
          </a:p>
        </p:txBody>
      </p:sp>
    </p:spTree>
    <p:extLst>
      <p:ext uri="{BB962C8B-B14F-4D97-AF65-F5344CB8AC3E}">
        <p14:creationId xmlns:p14="http://schemas.microsoft.com/office/powerpoint/2010/main" val="1624808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ster">
    <p:spTree>
      <p:nvGrpSpPr>
        <p:cNvPr id="1" name=""/>
        <p:cNvGrpSpPr/>
        <p:nvPr/>
      </p:nvGrpSpPr>
      <p:grpSpPr>
        <a:xfrm>
          <a:off x="0" y="0"/>
          <a:ext cx="0" cy="0"/>
          <a:chOff x="0" y="0"/>
          <a:chExt cx="0" cy="0"/>
        </a:xfrm>
      </p:grpSpPr>
      <p:sp>
        <p:nvSpPr>
          <p:cNvPr id="32" name="Instructions"/>
          <p:cNvSpPr/>
          <p:nvPr userDrawn="1"/>
        </p:nvSpPr>
        <p:spPr>
          <a:xfrm>
            <a:off x="44302680" y="-1"/>
            <a:ext cx="12447270" cy="32918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rIns="274320" rtlCol="0" anchor="t"/>
          <a:lstStyle/>
          <a:p>
            <a:pPr lvl="0">
              <a:spcBef>
                <a:spcPts val="1200"/>
              </a:spcBef>
            </a:pPr>
            <a:r>
              <a:rPr sz="9600" dirty="0">
                <a:solidFill>
                  <a:prstClr val="white">
                    <a:lumMod val="50000"/>
                  </a:prstClr>
                </a:solidFill>
                <a:latin typeface="Calibri Light" panose="020F0302020204030204" pitchFamily="34" charset="0"/>
                <a:cs typeface="Calibri" panose="020F0502020204030204" pitchFamily="34" charset="0"/>
              </a:rPr>
              <a:t>Printing:</a:t>
            </a:r>
          </a:p>
          <a:p>
            <a:pPr lvl="0">
              <a:spcBef>
                <a:spcPts val="1200"/>
              </a:spcBef>
            </a:pPr>
            <a:r>
              <a:rPr lang="en-US" sz="6600" dirty="0">
                <a:solidFill>
                  <a:prstClr val="white">
                    <a:lumMod val="50000"/>
                  </a:prstClr>
                </a:solidFill>
                <a:latin typeface="Calibri Light" panose="020F0302020204030204" pitchFamily="34" charset="0"/>
                <a:cs typeface="Calibri" panose="020F0502020204030204" pitchFamily="34" charset="0"/>
              </a:rPr>
              <a:t>This poster is 48” wide by 36” high. It’s designed to be printed on a large-format printer.</a:t>
            </a:r>
          </a:p>
          <a:p>
            <a:pPr lvl="0">
              <a:spcBef>
                <a:spcPts val="300"/>
              </a:spcBef>
            </a:pPr>
            <a:endParaRPr sz="6000" dirty="0">
              <a:solidFill>
                <a:prstClr val="white">
                  <a:lumMod val="50000"/>
                </a:prstClr>
              </a:solidFill>
              <a:latin typeface="Calibri Light" panose="020F0302020204030204" pitchFamily="34" charset="0"/>
              <a:cs typeface="Calibri" panose="020F0502020204030204" pitchFamily="34" charset="0"/>
            </a:endParaRPr>
          </a:p>
          <a:p>
            <a:pPr lvl="0">
              <a:spcBef>
                <a:spcPts val="1200"/>
              </a:spcBef>
            </a:pPr>
            <a:r>
              <a:rPr sz="8800" dirty="0">
                <a:solidFill>
                  <a:prstClr val="white">
                    <a:lumMod val="50000"/>
                  </a:prstClr>
                </a:solidFill>
                <a:latin typeface="Calibri Light" panose="020F0302020204030204" pitchFamily="34" charset="0"/>
                <a:cs typeface="Calibri" panose="020F0502020204030204" pitchFamily="34" charset="0"/>
              </a:rPr>
              <a:t>Customizing the Content:</a:t>
            </a:r>
          </a:p>
          <a:p>
            <a:pPr lvl="0">
              <a:spcBef>
                <a:spcPts val="1200"/>
              </a:spcBef>
            </a:pPr>
            <a:r>
              <a:rPr sz="6600" dirty="0">
                <a:solidFill>
                  <a:prstClr val="white">
                    <a:lumMod val="50000"/>
                  </a:prstClr>
                </a:solidFill>
                <a:latin typeface="Calibri Light" panose="020F0302020204030204" pitchFamily="34" charset="0"/>
                <a:cs typeface="Calibri" panose="020F0502020204030204" pitchFamily="34" charset="0"/>
              </a:rPr>
              <a:t>The placeholders in this </a:t>
            </a:r>
            <a:r>
              <a:rPr lang="en-US" sz="6600" dirty="0">
                <a:solidFill>
                  <a:prstClr val="white">
                    <a:lumMod val="50000"/>
                  </a:prstClr>
                </a:solidFill>
                <a:latin typeface="Calibri Light" panose="020F0302020204030204" pitchFamily="34" charset="0"/>
                <a:cs typeface="Calibri" panose="020F0502020204030204" pitchFamily="34" charset="0"/>
              </a:rPr>
              <a:t>poster </a:t>
            </a:r>
            <a:r>
              <a:rPr sz="6600" dirty="0">
                <a:solidFill>
                  <a:prstClr val="white">
                    <a:lumMod val="50000"/>
                  </a:prstClr>
                </a:solidFill>
                <a:latin typeface="Calibri Light" panose="020F0302020204030204" pitchFamily="34" charset="0"/>
                <a:cs typeface="Calibri" panose="020F0502020204030204" pitchFamily="34" charset="0"/>
              </a:rPr>
              <a:t>are formatted for you. </a:t>
            </a:r>
            <a:r>
              <a:rPr lang="en-US" sz="6600" dirty="0">
                <a:solidFill>
                  <a:prstClr val="white">
                    <a:lumMod val="50000"/>
                  </a:prstClr>
                </a:solidFill>
                <a:latin typeface="Calibri Light" panose="020F0302020204030204" pitchFamily="34" charset="0"/>
                <a:cs typeface="Calibri" panose="020F0502020204030204" pitchFamily="34" charset="0"/>
              </a:rPr>
              <a:t>Type</a:t>
            </a:r>
            <a:r>
              <a:rPr lang="en-US" sz="6600" baseline="0" dirty="0">
                <a:solidFill>
                  <a:prstClr val="white">
                    <a:lumMod val="50000"/>
                  </a:prstClr>
                </a:solidFill>
                <a:latin typeface="Calibri Light" panose="020F0302020204030204" pitchFamily="34" charset="0"/>
                <a:cs typeface="Calibri" panose="020F0502020204030204" pitchFamily="34" charset="0"/>
              </a:rPr>
              <a:t> in the placeholders </a:t>
            </a:r>
            <a:r>
              <a:rPr lang="en-US" sz="6600" dirty="0">
                <a:solidFill>
                  <a:prstClr val="white">
                    <a:lumMod val="50000"/>
                  </a:prstClr>
                </a:solidFill>
                <a:latin typeface="Calibri Light" panose="020F0302020204030204" pitchFamily="34" charset="0"/>
                <a:cs typeface="Calibri" panose="020F0502020204030204" pitchFamily="34" charset="0"/>
              </a:rPr>
              <a:t>to add text, or c</a:t>
            </a:r>
            <a:r>
              <a:rPr lang="en-US" sz="6600" baseline="0" dirty="0">
                <a:solidFill>
                  <a:prstClr val="white">
                    <a:lumMod val="50000"/>
                  </a:prstClr>
                </a:solidFill>
                <a:latin typeface="Calibri Light" panose="020F0302020204030204" pitchFamily="34" charset="0"/>
                <a:cs typeface="Calibri" panose="020F0502020204030204" pitchFamily="34" charset="0"/>
              </a:rPr>
              <a:t>lick an icon to add a table, chart, SmartArt graphic, picture or multimedia file.</a:t>
            </a:r>
          </a:p>
          <a:p>
            <a:pPr lvl="0">
              <a:spcBef>
                <a:spcPts val="2400"/>
              </a:spcBef>
            </a:pPr>
            <a:r>
              <a:rPr lang="en-US" sz="6600" dirty="0">
                <a:solidFill>
                  <a:prstClr val="white">
                    <a:lumMod val="50000"/>
                  </a:prstClr>
                </a:solidFill>
                <a:latin typeface="Calibri Light" panose="020F0302020204030204" pitchFamily="34" charset="0"/>
                <a:cs typeface="Calibri" panose="020F0502020204030204" pitchFamily="34" charset="0"/>
              </a:rPr>
              <a:t>T</a:t>
            </a:r>
            <a:r>
              <a:rPr sz="6600" dirty="0">
                <a:solidFill>
                  <a:prstClr val="white">
                    <a:lumMod val="50000"/>
                  </a:prstClr>
                </a:solidFill>
                <a:latin typeface="Calibri Light" panose="020F0302020204030204" pitchFamily="34" charset="0"/>
                <a:cs typeface="Calibri" panose="020F0502020204030204" pitchFamily="34" charset="0"/>
              </a:rPr>
              <a:t>o add or remove bullet points from text, click the Bullets button on the Home tab.</a:t>
            </a:r>
          </a:p>
          <a:p>
            <a:pPr lvl="0">
              <a:spcBef>
                <a:spcPts val="2400"/>
              </a:spcBef>
            </a:pPr>
            <a:r>
              <a:rPr sz="6600" dirty="0">
                <a:solidFill>
                  <a:prstClr val="white">
                    <a:lumMod val="50000"/>
                  </a:prstClr>
                </a:solidFill>
                <a:latin typeface="Calibri Light" panose="020F0302020204030204" pitchFamily="34" charset="0"/>
                <a:cs typeface="Calibri" panose="020F0502020204030204" pitchFamily="34" charset="0"/>
              </a:rPr>
              <a:t>If you need more placeholders for titles, </a:t>
            </a:r>
            <a:r>
              <a:rPr lang="en-US" sz="6600" dirty="0">
                <a:solidFill>
                  <a:prstClr val="white">
                    <a:lumMod val="50000"/>
                  </a:prstClr>
                </a:solidFill>
                <a:latin typeface="Calibri Light" panose="020F0302020204030204" pitchFamily="34" charset="0"/>
                <a:cs typeface="Calibri" panose="020F0502020204030204" pitchFamily="34" charset="0"/>
              </a:rPr>
              <a:t>content</a:t>
            </a:r>
            <a:r>
              <a:rPr sz="6600" dirty="0">
                <a:solidFill>
                  <a:prstClr val="white">
                    <a:lumMod val="50000"/>
                  </a:prstClr>
                </a:solidFill>
                <a:latin typeface="Calibri Light" panose="020F0302020204030204" pitchFamily="34" charset="0"/>
                <a:cs typeface="Calibri" panose="020F0502020204030204" pitchFamily="34" charset="0"/>
              </a:rPr>
              <a:t> or body text, make a copy of what you need and drag it into place. PowerPoint’s Smart Guides will help you align it with everything else.</a:t>
            </a:r>
          </a:p>
          <a:p>
            <a:pPr lvl="0">
              <a:spcBef>
                <a:spcPts val="2400"/>
              </a:spcBef>
            </a:pPr>
            <a:r>
              <a:rPr sz="6600" dirty="0">
                <a:solidFill>
                  <a:prstClr val="white">
                    <a:lumMod val="50000"/>
                  </a:prstClr>
                </a:solidFill>
                <a:latin typeface="Calibri Light" panose="020F0302020204030204" pitchFamily="34" charset="0"/>
                <a:cs typeface="Calibri" panose="020F0502020204030204" pitchFamily="34" charset="0"/>
              </a:rPr>
              <a:t>Want to use your own picture</a:t>
            </a:r>
            <a:r>
              <a:rPr lang="en-US" sz="6600" dirty="0">
                <a:solidFill>
                  <a:prstClr val="white">
                    <a:lumMod val="50000"/>
                  </a:prstClr>
                </a:solidFill>
                <a:latin typeface="Calibri Light" panose="020F0302020204030204" pitchFamily="34" charset="0"/>
                <a:cs typeface="Calibri" panose="020F0502020204030204" pitchFamily="34" charset="0"/>
              </a:rPr>
              <a:t>s</a:t>
            </a:r>
            <a:r>
              <a:rPr sz="6600" dirty="0">
                <a:solidFill>
                  <a:prstClr val="white">
                    <a:lumMod val="50000"/>
                  </a:prstClr>
                </a:solidFill>
                <a:latin typeface="Calibri Light" panose="020F0302020204030204" pitchFamily="34" charset="0"/>
                <a:cs typeface="Calibri" panose="020F0502020204030204" pitchFamily="34" charset="0"/>
              </a:rPr>
              <a:t> instead of ours? No problem!</a:t>
            </a:r>
            <a:r>
              <a:rPr lang="en-US" sz="6600" dirty="0">
                <a:solidFill>
                  <a:prstClr val="white">
                    <a:lumMod val="50000"/>
                  </a:prstClr>
                </a:solidFill>
                <a:latin typeface="Calibri Light" panose="020F0302020204030204" pitchFamily="34" charset="0"/>
                <a:cs typeface="Calibri" panose="020F0502020204030204" pitchFamily="34" charset="0"/>
              </a:rPr>
              <a:t> Just click a picture, press the Delete key, then click the icon to add your picture.</a:t>
            </a:r>
            <a:endParaRPr sz="6600" dirty="0">
              <a:solidFill>
                <a:prstClr val="white">
                  <a:lumMod val="50000"/>
                </a:prstClr>
              </a:solidFill>
              <a:latin typeface="Calibri Light" panose="020F0302020204030204" pitchFamily="34" charset="0"/>
              <a:cs typeface="Calibri" panose="020F0502020204030204" pitchFamily="34" charset="0"/>
            </a:endParaRPr>
          </a:p>
        </p:txBody>
      </p:sp>
      <p:sp>
        <p:nvSpPr>
          <p:cNvPr id="6" name="Title 5"/>
          <p:cNvSpPr>
            <a:spLocks noGrp="1"/>
          </p:cNvSpPr>
          <p:nvPr>
            <p:ph type="title"/>
          </p:nvPr>
        </p:nvSpPr>
        <p:spPr/>
        <p:txBody>
          <a:bodyPr/>
          <a:lstStyle/>
          <a:p>
            <a:r>
              <a:rPr lang="en-US"/>
              <a:t>Click to edit Master title style</a:t>
            </a:r>
          </a:p>
        </p:txBody>
      </p:sp>
      <p:sp>
        <p:nvSpPr>
          <p:cNvPr id="31" name="Text Placeholder 6"/>
          <p:cNvSpPr>
            <a:spLocks noGrp="1"/>
          </p:cNvSpPr>
          <p:nvPr>
            <p:ph type="body" sz="quarter" idx="36"/>
          </p:nvPr>
        </p:nvSpPr>
        <p:spPr bwMode="auto">
          <a:xfrm>
            <a:off x="1158240" y="4093905"/>
            <a:ext cx="30174412" cy="646331"/>
          </a:xfrm>
        </p:spPr>
        <p:txBody>
          <a:bodyPr anchor="ctr">
            <a:noAutofit/>
          </a:bodyPr>
          <a:lstStyle>
            <a:lvl1pPr marL="0" indent="0">
              <a:spcBef>
                <a:spcPts val="0"/>
              </a:spcBef>
              <a:buNone/>
              <a:defRPr sz="3600">
                <a:solidFill>
                  <a:schemeClr val="bg1">
                    <a:lumMod val="75000"/>
                  </a:schemeClr>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a:t>Edit Master text styles</a:t>
            </a:r>
          </a:p>
        </p:txBody>
      </p:sp>
      <p:sp>
        <p:nvSpPr>
          <p:cNvPr id="7" name="Text Placeholder 6"/>
          <p:cNvSpPr>
            <a:spLocks noGrp="1"/>
          </p:cNvSpPr>
          <p:nvPr>
            <p:ph type="body" sz="quarter" idx="13" hasCustomPrompt="1"/>
          </p:nvPr>
        </p:nvSpPr>
        <p:spPr>
          <a:xfrm>
            <a:off x="1143000" y="5669280"/>
            <a:ext cx="12801600" cy="128016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9" name="Text Placeholder 8"/>
          <p:cNvSpPr>
            <a:spLocks noGrp="1"/>
          </p:cNvSpPr>
          <p:nvPr>
            <p:ph type="body" sz="quarter" idx="39" hasCustomPrompt="1"/>
          </p:nvPr>
        </p:nvSpPr>
        <p:spPr bwMode="ltGray">
          <a:xfrm>
            <a:off x="1143000" y="7114032"/>
            <a:ext cx="12801600" cy="2732574"/>
          </a:xfrm>
          <a:solidFill>
            <a:schemeClr val="tx2">
              <a:lumMod val="10000"/>
              <a:lumOff val="90000"/>
            </a:schemeClr>
          </a:solidFill>
        </p:spPr>
        <p:txBody>
          <a:bodyPr lIns="365760" rIns="365760" anchor="ctr">
            <a:noAutofit/>
          </a:bodyPr>
          <a:lstStyle>
            <a:lvl1pPr marL="0" indent="0">
              <a:spcBef>
                <a:spcPts val="1200"/>
              </a:spcBef>
              <a:buFont typeface="Arial" panose="020B0604020202020204" pitchFamily="34" charset="0"/>
              <a:buNone/>
              <a:defRPr sz="4400" baseline="0"/>
            </a:lvl1pPr>
            <a:lvl2pPr marL="571500" indent="-571500">
              <a:spcBef>
                <a:spcPts val="1200"/>
              </a:spcBef>
              <a:buFont typeface="Arial" panose="020B0604020202020204" pitchFamily="34" charset="0"/>
              <a:buChar char="•"/>
              <a:defRPr sz="4400"/>
            </a:lvl2pPr>
            <a:lvl3pPr marL="571500" indent="-571500">
              <a:spcBef>
                <a:spcPts val="1200"/>
              </a:spcBef>
              <a:buFont typeface="Arial" panose="020B0604020202020204" pitchFamily="34" charset="0"/>
              <a:buChar char="•"/>
              <a:defRPr sz="4400"/>
            </a:lvl3pPr>
            <a:lvl4pPr marL="0" indent="0">
              <a:spcBef>
                <a:spcPts val="1200"/>
              </a:spcBef>
              <a:buNone/>
              <a:defRPr sz="4400"/>
            </a:lvl4pPr>
            <a:lvl5pPr marL="0" indent="0">
              <a:spcBef>
                <a:spcPts val="1200"/>
              </a:spcBef>
              <a:buNone/>
              <a:defRPr sz="4400"/>
            </a:lvl5pPr>
            <a:lvl6pPr marL="0" indent="0">
              <a:spcBef>
                <a:spcPts val="1200"/>
              </a:spcBef>
              <a:buNone/>
              <a:defRPr sz="4400"/>
            </a:lvl6pPr>
            <a:lvl7pPr marL="0" indent="0">
              <a:spcBef>
                <a:spcPts val="1200"/>
              </a:spcBef>
              <a:buNone/>
              <a:defRPr sz="4400"/>
            </a:lvl7pPr>
            <a:lvl8pPr marL="0" indent="0">
              <a:spcBef>
                <a:spcPts val="1200"/>
              </a:spcBef>
              <a:buNone/>
              <a:defRPr sz="4400"/>
            </a:lvl8pPr>
            <a:lvl9pPr marL="0" indent="0">
              <a:spcBef>
                <a:spcPts val="1200"/>
              </a:spcBef>
              <a:buNone/>
              <a:defRPr sz="4400"/>
            </a:lvl9pPr>
          </a:lstStyle>
          <a:p>
            <a:pPr lvl="0"/>
            <a:r>
              <a:rPr lang="en-US" dirty="0"/>
              <a:t>Type your question or a statement of the problem here</a:t>
            </a:r>
          </a:p>
        </p:txBody>
      </p:sp>
      <p:sp>
        <p:nvSpPr>
          <p:cNvPr id="36" name="Text Placeholder 6"/>
          <p:cNvSpPr>
            <a:spLocks noGrp="1"/>
          </p:cNvSpPr>
          <p:nvPr>
            <p:ph type="body" sz="quarter" idx="37" hasCustomPrompt="1"/>
          </p:nvPr>
        </p:nvSpPr>
        <p:spPr>
          <a:xfrm>
            <a:off x="1143000" y="10497312"/>
            <a:ext cx="12801600" cy="128016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37" name="Content Placeholder 17"/>
          <p:cNvSpPr>
            <a:spLocks noGrp="1"/>
          </p:cNvSpPr>
          <p:nvPr>
            <p:ph sz="quarter" idx="38" hasCustomPrompt="1"/>
          </p:nvPr>
        </p:nvSpPr>
        <p:spPr>
          <a:xfrm>
            <a:off x="1143000" y="11868912"/>
            <a:ext cx="12801600" cy="2807506"/>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p:txBody>
      </p:sp>
      <p:sp>
        <p:nvSpPr>
          <p:cNvPr id="11" name="Text Placeholder 6"/>
          <p:cNvSpPr>
            <a:spLocks noGrp="1"/>
          </p:cNvSpPr>
          <p:nvPr>
            <p:ph type="body" sz="quarter" idx="17" hasCustomPrompt="1"/>
          </p:nvPr>
        </p:nvSpPr>
        <p:spPr>
          <a:xfrm>
            <a:off x="1143000" y="14950440"/>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0" name="Content Placeholder 17"/>
          <p:cNvSpPr>
            <a:spLocks noGrp="1"/>
          </p:cNvSpPr>
          <p:nvPr>
            <p:ph sz="quarter" idx="25" hasCustomPrompt="1"/>
          </p:nvPr>
        </p:nvSpPr>
        <p:spPr>
          <a:xfrm>
            <a:off x="1143000" y="16440912"/>
            <a:ext cx="12801600" cy="6027461"/>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13" name="Text Placeholder 6"/>
          <p:cNvSpPr>
            <a:spLocks noGrp="1"/>
          </p:cNvSpPr>
          <p:nvPr>
            <p:ph type="body" sz="quarter" idx="19" hasCustomPrompt="1"/>
          </p:nvPr>
        </p:nvSpPr>
        <p:spPr>
          <a:xfrm>
            <a:off x="1143000" y="22887432"/>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1" name="Content Placeholder 17"/>
          <p:cNvSpPr>
            <a:spLocks noGrp="1"/>
          </p:cNvSpPr>
          <p:nvPr>
            <p:ph sz="quarter" idx="26" hasCustomPrompt="1"/>
          </p:nvPr>
        </p:nvSpPr>
        <p:spPr>
          <a:xfrm>
            <a:off x="1143000" y="24332184"/>
            <a:ext cx="12801600" cy="7296912"/>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15" name="Text Placeholder 6"/>
          <p:cNvSpPr>
            <a:spLocks noGrp="1"/>
          </p:cNvSpPr>
          <p:nvPr>
            <p:ph type="body" sz="quarter" idx="21" hasCustomPrompt="1"/>
          </p:nvPr>
        </p:nvSpPr>
        <p:spPr>
          <a:xfrm>
            <a:off x="15544800" y="5669280"/>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2" name="Content Placeholder 17"/>
          <p:cNvSpPr>
            <a:spLocks noGrp="1"/>
          </p:cNvSpPr>
          <p:nvPr>
            <p:ph sz="quarter" idx="27" hasCustomPrompt="1"/>
          </p:nvPr>
        </p:nvSpPr>
        <p:spPr>
          <a:xfrm>
            <a:off x="15544800" y="7114032"/>
            <a:ext cx="12801600" cy="6795556"/>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38" name="Text Placeholder 6"/>
          <p:cNvSpPr>
            <a:spLocks noGrp="1"/>
          </p:cNvSpPr>
          <p:nvPr>
            <p:ph type="body" sz="quarter" idx="40" hasCustomPrompt="1"/>
          </p:nvPr>
        </p:nvSpPr>
        <p:spPr>
          <a:xfrm>
            <a:off x="15544800" y="14328648"/>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18" name="Content Placeholder 17"/>
          <p:cNvSpPr>
            <a:spLocks noGrp="1"/>
          </p:cNvSpPr>
          <p:nvPr>
            <p:ph sz="quarter" idx="23" hasCustomPrompt="1"/>
          </p:nvPr>
        </p:nvSpPr>
        <p:spPr>
          <a:xfrm>
            <a:off x="15544800" y="15773399"/>
            <a:ext cx="12801600" cy="6694973"/>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4" name="Text Placeholder 6"/>
          <p:cNvSpPr>
            <a:spLocks noGrp="1"/>
          </p:cNvSpPr>
          <p:nvPr>
            <p:ph type="body" sz="quarter" idx="29" hasCustomPrompt="1"/>
          </p:nvPr>
        </p:nvSpPr>
        <p:spPr>
          <a:xfrm>
            <a:off x="15544800" y="22887432"/>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5" name="Content Placeholder 17"/>
          <p:cNvSpPr>
            <a:spLocks noGrp="1"/>
          </p:cNvSpPr>
          <p:nvPr>
            <p:ph sz="quarter" idx="30" hasCustomPrompt="1"/>
          </p:nvPr>
        </p:nvSpPr>
        <p:spPr>
          <a:xfrm>
            <a:off x="15544800" y="24332184"/>
            <a:ext cx="12801600" cy="7296912"/>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6" name="Text Placeholder 6"/>
          <p:cNvSpPr>
            <a:spLocks noGrp="1"/>
          </p:cNvSpPr>
          <p:nvPr>
            <p:ph type="body" sz="quarter" idx="31" hasCustomPrompt="1"/>
          </p:nvPr>
        </p:nvSpPr>
        <p:spPr>
          <a:xfrm>
            <a:off x="29900880" y="5669280"/>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7" name="Content Placeholder 17"/>
          <p:cNvSpPr>
            <a:spLocks noGrp="1"/>
          </p:cNvSpPr>
          <p:nvPr>
            <p:ph sz="quarter" idx="32" hasCustomPrompt="1"/>
          </p:nvPr>
        </p:nvSpPr>
        <p:spPr>
          <a:xfrm>
            <a:off x="29900880" y="7114032"/>
            <a:ext cx="12801600" cy="7315200"/>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8" name="Content Placeholder 17"/>
          <p:cNvSpPr>
            <a:spLocks noGrp="1"/>
          </p:cNvSpPr>
          <p:nvPr>
            <p:ph sz="quarter" idx="33" hasCustomPrompt="1"/>
          </p:nvPr>
        </p:nvSpPr>
        <p:spPr>
          <a:xfrm>
            <a:off x="29900880" y="14914834"/>
            <a:ext cx="12801600" cy="4538610"/>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p:txBody>
      </p:sp>
      <p:sp>
        <p:nvSpPr>
          <p:cNvPr id="39" name="Text Placeholder 6"/>
          <p:cNvSpPr>
            <a:spLocks noGrp="1"/>
          </p:cNvSpPr>
          <p:nvPr>
            <p:ph type="body" sz="quarter" idx="41" hasCustomPrompt="1"/>
          </p:nvPr>
        </p:nvSpPr>
        <p:spPr>
          <a:xfrm>
            <a:off x="29900880" y="19767596"/>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40" name="Content Placeholder 17"/>
          <p:cNvSpPr>
            <a:spLocks noGrp="1"/>
          </p:cNvSpPr>
          <p:nvPr>
            <p:ph sz="quarter" idx="42" hasCustomPrompt="1"/>
          </p:nvPr>
        </p:nvSpPr>
        <p:spPr>
          <a:xfrm>
            <a:off x="29900880" y="21212348"/>
            <a:ext cx="12801600" cy="4344786"/>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p:txBody>
      </p:sp>
      <p:sp>
        <p:nvSpPr>
          <p:cNvPr id="29" name="Text Placeholder 6"/>
          <p:cNvSpPr>
            <a:spLocks noGrp="1"/>
          </p:cNvSpPr>
          <p:nvPr>
            <p:ph type="body" sz="quarter" idx="34" hasCustomPrompt="1"/>
          </p:nvPr>
        </p:nvSpPr>
        <p:spPr>
          <a:xfrm>
            <a:off x="29900880" y="25722072"/>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30" name="Content Placeholder 17"/>
          <p:cNvSpPr>
            <a:spLocks noGrp="1"/>
          </p:cNvSpPr>
          <p:nvPr>
            <p:ph sz="quarter" idx="35" hasCustomPrompt="1"/>
          </p:nvPr>
        </p:nvSpPr>
        <p:spPr>
          <a:xfrm>
            <a:off x="29900880" y="27166824"/>
            <a:ext cx="12801600" cy="4462272"/>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p:txBody>
      </p:sp>
      <p:sp>
        <p:nvSpPr>
          <p:cNvPr id="3" name="Date Placeholder 2"/>
          <p:cNvSpPr>
            <a:spLocks noGrp="1"/>
          </p:cNvSpPr>
          <p:nvPr>
            <p:ph type="dt" sz="half" idx="10"/>
          </p:nvPr>
        </p:nvSpPr>
        <p:spPr/>
        <p:txBody>
          <a:bodyPr/>
          <a:lstStyle/>
          <a:p>
            <a:fld id="{ECAA57DF-1C19-4726-AB84-014692BAD8F5}" type="datetimeFigureOut">
              <a:rPr lang="en-US" smtClean="0"/>
              <a:t>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B4C631-C489-4C11-812F-2172FBEAE82B}" type="slidenum">
              <a:rPr lang="en-US" smtClean="0"/>
              <a:t>‹#›</a:t>
            </a:fld>
            <a:endParaRPr lang="en-US"/>
          </a:p>
        </p:txBody>
      </p:sp>
      <p:sp>
        <p:nvSpPr>
          <p:cNvPr id="8" name="Picture Placeholder 7"/>
          <p:cNvSpPr>
            <a:spLocks noGrp="1"/>
          </p:cNvSpPr>
          <p:nvPr>
            <p:ph type="pic" sz="quarter" idx="43"/>
          </p:nvPr>
        </p:nvSpPr>
        <p:spPr>
          <a:xfrm>
            <a:off x="32270700" y="0"/>
            <a:ext cx="11620500" cy="3842445"/>
          </a:xfrm>
          <a:effectDag name="">
            <a:cont type="tree" name="">
              <a:effect ref="fillLine"/>
              <a:alphaMod>
                <a:cont name="">
                  <a:fill>
                    <a:gradFill>
                      <a:gsLst>
                        <a:gs pos="60000">
                          <a:srgbClr val="000000">
                            <a:alpha val="100000"/>
                          </a:srgbClr>
                        </a:gs>
                        <a:gs pos="97000">
                          <a:srgbClr val="000000">
                            <a:alpha val="0"/>
                          </a:srgbClr>
                        </a:gs>
                      </a:gsLst>
                      <a:lin ang="10800000"/>
                    </a:gradFill>
                  </a:fill>
                </a:cont>
              </a:alphaMod>
            </a:cont>
          </a:effectDag>
        </p:spPr>
        <p:txBody>
          <a:bodyPr lIns="91440" tIns="457200" rIns="91440"/>
          <a:lstStyle>
            <a:lvl1pPr marL="0" indent="0" algn="ctr">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45907722"/>
      </p:ext>
    </p:extLst>
  </p:cSld>
  <p:clrMapOvr>
    <a:masterClrMapping/>
  </p:clrMapOvr>
  <p:extLst>
    <p:ext uri="{DCECCB84-F9BA-43D5-87BE-67443E8EF086}">
      <p15:sldGuideLst xmlns:p15="http://schemas.microsoft.com/office/powerpoint/2012/main">
        <p15:guide id="1" pos="9168" userDrawn="1">
          <p15:clr>
            <a:srgbClr val="A4A3A4"/>
          </p15:clr>
        </p15:guide>
        <p15:guide id="2" pos="18480" userDrawn="1">
          <p15:clr>
            <a:srgbClr val="A4A3A4"/>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bwMode="ltGray">
          <a:xfrm>
            <a:off x="0" y="0"/>
            <a:ext cx="43891200" cy="5029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bwMode="auto">
          <a:xfrm>
            <a:off x="1158240" y="685860"/>
            <a:ext cx="30175200" cy="297174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158240" y="6019800"/>
            <a:ext cx="41589960" cy="2362962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3000" y="32114698"/>
            <a:ext cx="9875520" cy="457200"/>
          </a:xfrm>
          <a:prstGeom prst="rect">
            <a:avLst/>
          </a:prstGeom>
        </p:spPr>
        <p:txBody>
          <a:bodyPr vert="horz" lIns="91440" tIns="45720" rIns="91440" bIns="45720" rtlCol="0" anchor="ctr"/>
          <a:lstStyle>
            <a:lvl1pPr algn="l">
              <a:defRPr sz="1600">
                <a:solidFill>
                  <a:schemeClr val="tx1">
                    <a:tint val="75000"/>
                  </a:schemeClr>
                </a:solidFill>
              </a:defRPr>
            </a:lvl1pPr>
          </a:lstStyle>
          <a:p>
            <a:fld id="{ECAA57DF-1C19-4726-AB84-014692BAD8F5}" type="datetimeFigureOut">
              <a:rPr lang="en-US" smtClean="0"/>
              <a:pPr/>
              <a:t>12/5/2025</a:t>
            </a:fld>
            <a:endParaRPr lang="en-US"/>
          </a:p>
        </p:txBody>
      </p:sp>
      <p:sp>
        <p:nvSpPr>
          <p:cNvPr id="5" name="Footer Placeholder 4"/>
          <p:cNvSpPr>
            <a:spLocks noGrp="1"/>
          </p:cNvSpPr>
          <p:nvPr>
            <p:ph type="ftr" sz="quarter" idx="3"/>
          </p:nvPr>
        </p:nvSpPr>
        <p:spPr>
          <a:xfrm>
            <a:off x="11018520" y="32114698"/>
            <a:ext cx="21854160" cy="457200"/>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2872680" y="32114698"/>
            <a:ext cx="9875520" cy="457200"/>
          </a:xfrm>
          <a:prstGeom prst="rect">
            <a:avLst/>
          </a:prstGeom>
        </p:spPr>
        <p:txBody>
          <a:bodyPr vert="horz" lIns="91440" tIns="45720" rIns="91440" bIns="45720" rtlCol="0" anchor="ctr"/>
          <a:lstStyle>
            <a:lvl1pPr algn="r">
              <a:defRPr sz="1600">
                <a:solidFill>
                  <a:schemeClr val="tx1">
                    <a:tint val="75000"/>
                  </a:schemeClr>
                </a:solidFill>
              </a:defRPr>
            </a:lvl1pPr>
          </a:lstStyle>
          <a:p>
            <a:fld id="{91B4C631-C489-4C11-812F-2172FBEAE82B}" type="slidenum">
              <a:rPr lang="en-US" smtClean="0"/>
              <a:pPr/>
              <a:t>‹#›</a:t>
            </a:fld>
            <a:endParaRPr lang="en-US"/>
          </a:p>
        </p:txBody>
      </p:sp>
      <p:sp>
        <p:nvSpPr>
          <p:cNvPr id="8" name="Rectangle 7"/>
          <p:cNvSpPr/>
          <p:nvPr userDrawn="1"/>
        </p:nvSpPr>
        <p:spPr bwMode="gray">
          <a:xfrm>
            <a:off x="0" y="3886200"/>
            <a:ext cx="43891200" cy="1143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userDrawn="1"/>
        </p:nvCxnSpPr>
        <p:spPr>
          <a:xfrm>
            <a:off x="0" y="3886200"/>
            <a:ext cx="43891200" cy="0"/>
          </a:xfrm>
          <a:prstGeom prst="line">
            <a:avLst/>
          </a:prstGeom>
          <a:ln w="114300">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8807471"/>
      </p:ext>
    </p:extLst>
  </p:cSld>
  <p:clrMap bg1="lt1" tx1="dk1" bg2="lt2" tx2="dk2" accent1="accent1" accent2="accent2" accent3="accent3" accent4="accent4" accent5="accent5" accent6="accent6" hlink="hlink" folHlink="folHlink"/>
  <p:sldLayoutIdLst>
    <p:sldLayoutId id="2147483672" r:id="rId1"/>
  </p:sldLayoutIdLst>
  <p:txStyles>
    <p:titleStyle>
      <a:lvl1pPr algn="l" defTabSz="4389120" rtl="0" eaLnBrk="1" latinLnBrk="0" hangingPunct="1">
        <a:lnSpc>
          <a:spcPct val="90000"/>
        </a:lnSpc>
        <a:spcBef>
          <a:spcPct val="0"/>
        </a:spcBef>
        <a:buNone/>
        <a:defRPr sz="11500" b="0" kern="1200">
          <a:solidFill>
            <a:schemeClr val="bg1"/>
          </a:solidFill>
          <a:latin typeface="+mj-lt"/>
          <a:ea typeface="+mj-ea"/>
          <a:cs typeface="+mj-cs"/>
        </a:defRPr>
      </a:lvl1pPr>
    </p:titleStyle>
    <p:body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368" userDrawn="1">
          <p15:clr>
            <a:srgbClr val="A4A3A4"/>
          </p15:clr>
        </p15:guide>
        <p15:guide id="2" pos="720" userDrawn="1">
          <p15:clr>
            <a:srgbClr val="A4A3A4"/>
          </p15:clr>
        </p15:guide>
        <p15:guide id="3" pos="26928" userDrawn="1">
          <p15:clr>
            <a:srgbClr val="A4A3A4"/>
          </p15:clr>
        </p15:guide>
        <p15:guide id="4" pos="13824"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2024 Ohio State Offensive Players</a:t>
            </a:r>
          </a:p>
        </p:txBody>
      </p:sp>
      <p:sp>
        <p:nvSpPr>
          <p:cNvPr id="23" name="Text Placeholder 22"/>
          <p:cNvSpPr>
            <a:spLocks noGrp="1"/>
          </p:cNvSpPr>
          <p:nvPr>
            <p:ph type="body" sz="quarter" idx="36"/>
          </p:nvPr>
        </p:nvSpPr>
        <p:spPr/>
        <p:txBody>
          <a:bodyPr/>
          <a:lstStyle/>
          <a:p>
            <a:r>
              <a:rPr lang="en-US" dirty="0"/>
              <a:t>Karissa Merillat | Huntington University | CS 415 Database Management – Fall 2025 - Final Project</a:t>
            </a:r>
          </a:p>
        </p:txBody>
      </p:sp>
      <p:sp>
        <p:nvSpPr>
          <p:cNvPr id="67" name="Text Placeholder 66"/>
          <p:cNvSpPr>
            <a:spLocks noGrp="1"/>
          </p:cNvSpPr>
          <p:nvPr>
            <p:ph type="body" sz="quarter" idx="13"/>
          </p:nvPr>
        </p:nvSpPr>
        <p:spPr/>
        <p:txBody>
          <a:bodyPr/>
          <a:lstStyle/>
          <a:p>
            <a:r>
              <a:rPr lang="en-US" dirty="0"/>
              <a:t>Overview</a:t>
            </a:r>
          </a:p>
        </p:txBody>
      </p:sp>
      <p:sp>
        <p:nvSpPr>
          <p:cNvPr id="12" name="Content Placeholder 11"/>
          <p:cNvSpPr>
            <a:spLocks noGrp="1"/>
          </p:cNvSpPr>
          <p:nvPr>
            <p:ph sz="quarter" idx="25"/>
          </p:nvPr>
        </p:nvSpPr>
        <p:spPr>
          <a:xfrm>
            <a:off x="1188720" y="6888480"/>
            <a:ext cx="12801600" cy="4503420"/>
          </a:xfrm>
        </p:spPr>
        <p:txBody>
          <a:bodyPr>
            <a:normAutofit fontScale="70000" lnSpcReduction="20000"/>
          </a:bodyPr>
          <a:lstStyle/>
          <a:p>
            <a:endParaRPr lang="en-US" dirty="0"/>
          </a:p>
          <a:p>
            <a:r>
              <a:rPr lang="en-US" dirty="0"/>
              <a:t>My database is designed for a college football program that needs to efficiently store and analyze individual player performance throughout a season. This organization relies on accurate statistical tracking to evaluate athletes, prepare weekly scouting reports, and support coaching decisions. By centralizing information about game results, detailed offensive statistics, players, and their positions, the database provides the coaching staff, analysts, and support personnel with a unified and reliable system for understanding team performance. </a:t>
            </a:r>
          </a:p>
          <a:p>
            <a:r>
              <a:rPr lang="en-US" dirty="0"/>
              <a:t>From a user's perspective, the database functions as an organized system that allows coaches, analysts, and student staff members to quickly retrieve and update information about players and their performance. After each game, a user can enter rushing, receiving, passing, and touchdown statistics, as well as whether the player participated in the game, into the </a:t>
            </a:r>
            <a:r>
              <a:rPr lang="en-US" dirty="0" err="1"/>
              <a:t>player_game_stats</a:t>
            </a:r>
            <a:r>
              <a:rPr lang="en-US" dirty="0"/>
              <a:t> table. Users can also review player information such as position, class year, and jersey number to support tasks like roster sheet creation, scouting breakdowns, and media preparation.</a:t>
            </a:r>
          </a:p>
        </p:txBody>
      </p:sp>
      <p:sp>
        <p:nvSpPr>
          <p:cNvPr id="8" name="Text Placeholder 7"/>
          <p:cNvSpPr>
            <a:spLocks noGrp="1"/>
          </p:cNvSpPr>
          <p:nvPr>
            <p:ph type="body" sz="quarter" idx="19"/>
          </p:nvPr>
        </p:nvSpPr>
        <p:spPr>
          <a:xfrm>
            <a:off x="1188720" y="21972225"/>
            <a:ext cx="12801600" cy="1219200"/>
          </a:xfrm>
        </p:spPr>
        <p:txBody>
          <a:bodyPr/>
          <a:lstStyle/>
          <a:p>
            <a:r>
              <a:rPr lang="en-US" dirty="0"/>
              <a:t>ER Model</a:t>
            </a:r>
          </a:p>
        </p:txBody>
      </p:sp>
      <p:sp>
        <p:nvSpPr>
          <p:cNvPr id="9" name="Text Placeholder 8"/>
          <p:cNvSpPr>
            <a:spLocks noGrp="1"/>
          </p:cNvSpPr>
          <p:nvPr>
            <p:ph type="body" sz="quarter" idx="21"/>
          </p:nvPr>
        </p:nvSpPr>
        <p:spPr/>
        <p:txBody>
          <a:bodyPr/>
          <a:lstStyle/>
          <a:p>
            <a:r>
              <a:rPr lang="en-US" dirty="0"/>
              <a:t>Data</a:t>
            </a:r>
          </a:p>
        </p:txBody>
      </p:sp>
      <p:sp>
        <p:nvSpPr>
          <p:cNvPr id="70" name="Text Placeholder 69"/>
          <p:cNvSpPr>
            <a:spLocks noGrp="1"/>
          </p:cNvSpPr>
          <p:nvPr>
            <p:ph type="body" sz="quarter" idx="40"/>
          </p:nvPr>
        </p:nvSpPr>
        <p:spPr/>
        <p:txBody>
          <a:bodyPr/>
          <a:lstStyle/>
          <a:p>
            <a:r>
              <a:rPr lang="en-US" dirty="0"/>
              <a:t>Queries</a:t>
            </a:r>
          </a:p>
        </p:txBody>
      </p:sp>
      <p:sp>
        <p:nvSpPr>
          <p:cNvPr id="17" name="Content Placeholder 16"/>
          <p:cNvSpPr>
            <a:spLocks noGrp="1"/>
          </p:cNvSpPr>
          <p:nvPr>
            <p:ph sz="quarter" idx="30"/>
          </p:nvPr>
        </p:nvSpPr>
        <p:spPr>
          <a:xfrm>
            <a:off x="15544800" y="15966908"/>
            <a:ext cx="12801600" cy="15436636"/>
          </a:xfrm>
        </p:spPr>
        <p:txBody>
          <a:bodyPr>
            <a:normAutofit fontScale="70000" lnSpcReduction="20000"/>
          </a:bodyPr>
          <a:lstStyle/>
          <a:p>
            <a:r>
              <a:rPr lang="en-US" dirty="0"/>
              <a:t>This query shows the total yards, including passing, rushing, and receiving, each player has when they played in the game. This can be useful when figuring out the leaders of a certain game. Also, excluding players who did not play makes the data easier to read.</a:t>
            </a:r>
          </a:p>
          <a:p>
            <a:pPr marL="0" indent="0">
              <a:buNone/>
            </a:pPr>
            <a:r>
              <a:rPr lang="en-US" dirty="0"/>
              <a:t>SELECT </a:t>
            </a:r>
          </a:p>
          <a:p>
            <a:pPr marL="0" indent="0">
              <a:buNone/>
            </a:pPr>
            <a:r>
              <a:rPr lang="en-US" dirty="0"/>
              <a:t>    p.name,</a:t>
            </a:r>
          </a:p>
          <a:p>
            <a:pPr marL="0" indent="0">
              <a:buNone/>
            </a:pPr>
            <a:r>
              <a:rPr lang="en-US" dirty="0"/>
              <a:t>    </a:t>
            </a:r>
            <a:r>
              <a:rPr lang="en-US" dirty="0" err="1"/>
              <a:t>pgs.game_id</a:t>
            </a:r>
            <a:r>
              <a:rPr lang="en-US" dirty="0"/>
              <a:t>,</a:t>
            </a:r>
          </a:p>
          <a:p>
            <a:pPr marL="0" indent="0">
              <a:buNone/>
            </a:pPr>
            <a:r>
              <a:rPr lang="en-US" dirty="0"/>
              <a:t>    (</a:t>
            </a:r>
            <a:r>
              <a:rPr lang="en-US" dirty="0" err="1"/>
              <a:t>pgs.rushing_yards</a:t>
            </a:r>
            <a:r>
              <a:rPr lang="en-US" dirty="0"/>
              <a:t> + </a:t>
            </a:r>
            <a:r>
              <a:rPr lang="en-US" dirty="0" err="1"/>
              <a:t>pgs.receiving_yards</a:t>
            </a:r>
            <a:r>
              <a:rPr lang="en-US" dirty="0"/>
              <a:t> + </a:t>
            </a:r>
            <a:r>
              <a:rPr lang="en-US" dirty="0" err="1"/>
              <a:t>pgs.passing_yards</a:t>
            </a:r>
            <a:r>
              <a:rPr lang="en-US" dirty="0"/>
              <a:t>) AS </a:t>
            </a:r>
            <a:r>
              <a:rPr lang="en-US" dirty="0" err="1"/>
              <a:t>total_yards</a:t>
            </a:r>
            <a:endParaRPr lang="en-US" dirty="0"/>
          </a:p>
          <a:p>
            <a:pPr marL="0" indent="0">
              <a:buNone/>
            </a:pPr>
            <a:r>
              <a:rPr lang="en-US" dirty="0"/>
              <a:t>FROM </a:t>
            </a:r>
            <a:r>
              <a:rPr lang="en-US" dirty="0" err="1"/>
              <a:t>player_game_stats</a:t>
            </a:r>
            <a:r>
              <a:rPr lang="en-US" dirty="0"/>
              <a:t> </a:t>
            </a:r>
            <a:r>
              <a:rPr lang="en-US" dirty="0" err="1"/>
              <a:t>pgs</a:t>
            </a:r>
            <a:endParaRPr lang="en-US" dirty="0"/>
          </a:p>
          <a:p>
            <a:pPr marL="0" indent="0">
              <a:buNone/>
            </a:pPr>
            <a:r>
              <a:rPr lang="en-US" dirty="0"/>
              <a:t>JOIN player p ON </a:t>
            </a:r>
            <a:r>
              <a:rPr lang="en-US" dirty="0" err="1"/>
              <a:t>pgs.player_id</a:t>
            </a:r>
            <a:r>
              <a:rPr lang="en-US" dirty="0"/>
              <a:t> = </a:t>
            </a:r>
            <a:r>
              <a:rPr lang="en-US" dirty="0" err="1"/>
              <a:t>p.player_id</a:t>
            </a:r>
            <a:endParaRPr lang="en-US" dirty="0"/>
          </a:p>
          <a:p>
            <a:pPr marL="0" indent="0">
              <a:buNone/>
            </a:pPr>
            <a:r>
              <a:rPr lang="en-US" dirty="0"/>
              <a:t>WHERE </a:t>
            </a:r>
            <a:r>
              <a:rPr lang="en-US" dirty="0" err="1"/>
              <a:t>pgs.played</a:t>
            </a:r>
            <a:r>
              <a:rPr lang="en-US" dirty="0"/>
              <a:t> &lt;&gt; 0;</a:t>
            </a:r>
          </a:p>
          <a:p>
            <a:r>
              <a:rPr lang="en-US" dirty="0"/>
              <a:t>This query shows which players had more the 3 touchdowns in the entire season. This is helpful when tracking leaders on the team and what positions have to be filled when players leave the program.</a:t>
            </a:r>
          </a:p>
          <a:p>
            <a:pPr marL="0" indent="0">
              <a:buNone/>
            </a:pPr>
            <a:r>
              <a:rPr lang="en-US" dirty="0"/>
              <a:t>SELECT</a:t>
            </a:r>
          </a:p>
          <a:p>
            <a:pPr marL="0" indent="0">
              <a:buNone/>
            </a:pPr>
            <a:r>
              <a:rPr lang="en-US" dirty="0"/>
              <a:t>    p.name,</a:t>
            </a:r>
          </a:p>
          <a:p>
            <a:pPr marL="0" indent="0">
              <a:buNone/>
            </a:pPr>
            <a:r>
              <a:rPr lang="en-US" dirty="0"/>
              <a:t>    SUM(</a:t>
            </a:r>
            <a:r>
              <a:rPr lang="en-US" dirty="0" err="1"/>
              <a:t>s.touchdowns</a:t>
            </a:r>
            <a:r>
              <a:rPr lang="en-US" dirty="0"/>
              <a:t>) AS </a:t>
            </a:r>
            <a:r>
              <a:rPr lang="en-US" dirty="0" err="1"/>
              <a:t>total_tds</a:t>
            </a:r>
            <a:endParaRPr lang="en-US" dirty="0"/>
          </a:p>
          <a:p>
            <a:pPr marL="0" indent="0">
              <a:buNone/>
            </a:pPr>
            <a:r>
              <a:rPr lang="en-US" dirty="0"/>
              <a:t>FROM </a:t>
            </a:r>
            <a:r>
              <a:rPr lang="en-US" dirty="0" err="1"/>
              <a:t>player_game_stats</a:t>
            </a:r>
            <a:r>
              <a:rPr lang="en-US" dirty="0"/>
              <a:t> AS s</a:t>
            </a:r>
          </a:p>
          <a:p>
            <a:pPr marL="0" indent="0">
              <a:buNone/>
            </a:pPr>
            <a:r>
              <a:rPr lang="en-US" dirty="0"/>
              <a:t>JOIN player AS p ON </a:t>
            </a:r>
            <a:r>
              <a:rPr lang="en-US" dirty="0" err="1"/>
              <a:t>s.player_id</a:t>
            </a:r>
            <a:r>
              <a:rPr lang="en-US" dirty="0"/>
              <a:t> = </a:t>
            </a:r>
            <a:r>
              <a:rPr lang="en-US" dirty="0" err="1"/>
              <a:t>p.player_id</a:t>
            </a:r>
            <a:endParaRPr lang="en-US" dirty="0"/>
          </a:p>
          <a:p>
            <a:pPr marL="0" indent="0">
              <a:buNone/>
            </a:pPr>
            <a:r>
              <a:rPr lang="en-US" dirty="0"/>
              <a:t>GROUP BY </a:t>
            </a:r>
            <a:r>
              <a:rPr lang="en-US" dirty="0" err="1"/>
              <a:t>p.player_id</a:t>
            </a:r>
            <a:endParaRPr lang="en-US" dirty="0"/>
          </a:p>
          <a:p>
            <a:pPr marL="0" indent="0">
              <a:buNone/>
            </a:pPr>
            <a:r>
              <a:rPr lang="en-US" dirty="0"/>
              <a:t>HAVING </a:t>
            </a:r>
            <a:r>
              <a:rPr lang="en-US" dirty="0" err="1"/>
              <a:t>total_tds</a:t>
            </a:r>
            <a:r>
              <a:rPr lang="en-US" dirty="0"/>
              <a:t> &gt; 3;</a:t>
            </a:r>
          </a:p>
          <a:p>
            <a:r>
              <a:rPr lang="en-US" dirty="0"/>
              <a:t>This query creates a view called </a:t>
            </a:r>
            <a:r>
              <a:rPr lang="en-US" dirty="0" err="1"/>
              <a:t>offensive_totals</a:t>
            </a:r>
            <a:r>
              <a:rPr lang="en-US" dirty="0"/>
              <a:t> that sums the total rushing, receiving, and passing yards and touchdowns for each player. This type of view makes it easy to see the impact each player had on the team.</a:t>
            </a:r>
          </a:p>
          <a:p>
            <a:pPr marL="0" indent="0">
              <a:buNone/>
            </a:pPr>
            <a:r>
              <a:rPr lang="en-US" dirty="0"/>
              <a:t>CREATE VIEW </a:t>
            </a:r>
            <a:r>
              <a:rPr lang="en-US" dirty="0" err="1"/>
              <a:t>offensive_totals</a:t>
            </a:r>
            <a:r>
              <a:rPr lang="en-US" dirty="0"/>
              <a:t> AS</a:t>
            </a:r>
          </a:p>
          <a:p>
            <a:pPr marL="0" indent="0">
              <a:buNone/>
            </a:pPr>
            <a:r>
              <a:rPr lang="en-US" dirty="0"/>
              <a:t>SELECT </a:t>
            </a:r>
          </a:p>
          <a:p>
            <a:pPr marL="0" indent="0">
              <a:buNone/>
            </a:pPr>
            <a:r>
              <a:rPr lang="en-US" dirty="0"/>
              <a:t>    </a:t>
            </a:r>
            <a:r>
              <a:rPr lang="en-US" dirty="0" err="1"/>
              <a:t>p.player_id</a:t>
            </a:r>
            <a:r>
              <a:rPr lang="en-US" dirty="0"/>
              <a:t>,</a:t>
            </a:r>
          </a:p>
          <a:p>
            <a:pPr marL="0" indent="0">
              <a:buNone/>
            </a:pPr>
            <a:r>
              <a:rPr lang="en-US" dirty="0"/>
              <a:t>    p.name,</a:t>
            </a:r>
          </a:p>
          <a:p>
            <a:pPr marL="0" indent="0">
              <a:buNone/>
            </a:pPr>
            <a:r>
              <a:rPr lang="en-US" dirty="0"/>
              <a:t>    SUM(</a:t>
            </a:r>
            <a:r>
              <a:rPr lang="en-US" dirty="0" err="1"/>
              <a:t>s.rushing_yards</a:t>
            </a:r>
            <a:r>
              <a:rPr lang="en-US" dirty="0"/>
              <a:t>) AS </a:t>
            </a:r>
            <a:r>
              <a:rPr lang="en-US" dirty="0" err="1"/>
              <a:t>total_rush</a:t>
            </a:r>
            <a:r>
              <a:rPr lang="en-US" dirty="0"/>
              <a:t>,</a:t>
            </a:r>
          </a:p>
          <a:p>
            <a:pPr marL="0" indent="0">
              <a:buNone/>
            </a:pPr>
            <a:r>
              <a:rPr lang="en-US" dirty="0"/>
              <a:t>    SUM(</a:t>
            </a:r>
            <a:r>
              <a:rPr lang="en-US" dirty="0" err="1"/>
              <a:t>s.receiving_yards</a:t>
            </a:r>
            <a:r>
              <a:rPr lang="en-US" dirty="0"/>
              <a:t>) AS </a:t>
            </a:r>
            <a:r>
              <a:rPr lang="en-US" dirty="0" err="1"/>
              <a:t>total_receive</a:t>
            </a:r>
            <a:r>
              <a:rPr lang="en-US" dirty="0"/>
              <a:t>,</a:t>
            </a:r>
          </a:p>
          <a:p>
            <a:pPr marL="0" indent="0">
              <a:buNone/>
            </a:pPr>
            <a:r>
              <a:rPr lang="en-US" dirty="0"/>
              <a:t>    SUM(</a:t>
            </a:r>
            <a:r>
              <a:rPr lang="en-US" dirty="0" err="1"/>
              <a:t>s.passing_yards</a:t>
            </a:r>
            <a:r>
              <a:rPr lang="en-US" dirty="0"/>
              <a:t>) AS </a:t>
            </a:r>
            <a:r>
              <a:rPr lang="en-US" dirty="0" err="1"/>
              <a:t>total_pass</a:t>
            </a:r>
            <a:r>
              <a:rPr lang="en-US" dirty="0"/>
              <a:t>,</a:t>
            </a:r>
          </a:p>
          <a:p>
            <a:pPr marL="0" indent="0">
              <a:buNone/>
            </a:pPr>
            <a:r>
              <a:rPr lang="en-US" dirty="0"/>
              <a:t>    SUM(</a:t>
            </a:r>
            <a:r>
              <a:rPr lang="en-US" dirty="0" err="1"/>
              <a:t>s.touchdowns</a:t>
            </a:r>
            <a:r>
              <a:rPr lang="en-US" dirty="0"/>
              <a:t>) AS </a:t>
            </a:r>
            <a:r>
              <a:rPr lang="en-US" dirty="0" err="1"/>
              <a:t>total_tds</a:t>
            </a:r>
            <a:endParaRPr lang="en-US" dirty="0"/>
          </a:p>
          <a:p>
            <a:pPr marL="0" indent="0">
              <a:buNone/>
            </a:pPr>
            <a:r>
              <a:rPr lang="en-US" dirty="0"/>
              <a:t>FROM </a:t>
            </a:r>
            <a:r>
              <a:rPr lang="en-US" dirty="0" err="1"/>
              <a:t>player_game_stats</a:t>
            </a:r>
            <a:r>
              <a:rPr lang="en-US" dirty="0"/>
              <a:t> s</a:t>
            </a:r>
          </a:p>
          <a:p>
            <a:pPr marL="0" indent="0">
              <a:buNone/>
            </a:pPr>
            <a:r>
              <a:rPr lang="en-US" dirty="0"/>
              <a:t>JOIN player p ON </a:t>
            </a:r>
            <a:r>
              <a:rPr lang="en-US" dirty="0" err="1"/>
              <a:t>s.player_id</a:t>
            </a:r>
            <a:r>
              <a:rPr lang="en-US" dirty="0"/>
              <a:t> = </a:t>
            </a:r>
            <a:r>
              <a:rPr lang="en-US" dirty="0" err="1"/>
              <a:t>p.player_id</a:t>
            </a:r>
            <a:endParaRPr lang="en-US" dirty="0"/>
          </a:p>
          <a:p>
            <a:pPr marL="0" indent="0">
              <a:buNone/>
            </a:pPr>
            <a:r>
              <a:rPr lang="en-US" dirty="0"/>
              <a:t>GROUP BY </a:t>
            </a:r>
            <a:r>
              <a:rPr lang="en-US" dirty="0" err="1"/>
              <a:t>p.player_id</a:t>
            </a:r>
            <a:r>
              <a:rPr lang="en-US" dirty="0"/>
              <a:t>;</a:t>
            </a:r>
          </a:p>
          <a:p>
            <a:pPr marL="0" indent="0">
              <a:buNone/>
            </a:pPr>
            <a:endParaRPr lang="en-US" dirty="0"/>
          </a:p>
          <a:p>
            <a:pPr marL="0" indent="0">
              <a:buNone/>
            </a:pPr>
            <a:r>
              <a:rPr lang="en-US" dirty="0"/>
              <a:t>SELECT * FROM </a:t>
            </a:r>
            <a:r>
              <a:rPr lang="en-US" dirty="0" err="1"/>
              <a:t>offensive_totals</a:t>
            </a:r>
            <a:endParaRPr lang="en-US" dirty="0"/>
          </a:p>
          <a:p>
            <a:pPr marL="0" indent="0">
              <a:buNone/>
            </a:pPr>
            <a:r>
              <a:rPr lang="en-US" dirty="0"/>
              <a:t>ORDER BY </a:t>
            </a:r>
            <a:r>
              <a:rPr lang="en-US" dirty="0" err="1"/>
              <a:t>total_tds</a:t>
            </a:r>
            <a:r>
              <a:rPr lang="en-US" dirty="0"/>
              <a:t> DESC;</a:t>
            </a:r>
          </a:p>
          <a:p>
            <a:pPr marL="0" indent="0">
              <a:buNone/>
            </a:pPr>
            <a:endParaRPr lang="en-US" dirty="0"/>
          </a:p>
          <a:p>
            <a:pPr marL="0" indent="0">
              <a:buNone/>
            </a:pPr>
            <a:endParaRPr lang="en-US" dirty="0"/>
          </a:p>
        </p:txBody>
      </p:sp>
      <p:sp>
        <p:nvSpPr>
          <p:cNvPr id="18" name="Text Placeholder 17"/>
          <p:cNvSpPr>
            <a:spLocks noGrp="1"/>
          </p:cNvSpPr>
          <p:nvPr>
            <p:ph type="body" sz="quarter" idx="31"/>
          </p:nvPr>
        </p:nvSpPr>
        <p:spPr/>
        <p:txBody>
          <a:bodyPr/>
          <a:lstStyle/>
          <a:p>
            <a:r>
              <a:rPr lang="en-US" dirty="0"/>
              <a:t>Reports</a:t>
            </a:r>
          </a:p>
        </p:txBody>
      </p:sp>
      <p:pic>
        <p:nvPicPr>
          <p:cNvPr id="27" name="Content Placeholder 26" descr="A black background with a black square&#10;&#10;AI-generated content may be incorrect.">
            <a:extLst>
              <a:ext uri="{FF2B5EF4-FFF2-40B4-BE49-F238E27FC236}">
                <a16:creationId xmlns:a16="http://schemas.microsoft.com/office/drawing/2014/main" id="{2D770538-BCE4-372C-94F1-CDD855D4F530}"/>
              </a:ext>
            </a:extLst>
          </p:cNvPr>
          <p:cNvPicPr>
            <a:picLocks noGrp="1" noChangeAspect="1"/>
          </p:cNvPicPr>
          <p:nvPr>
            <p:ph sz="quarter" idx="33"/>
          </p:nvPr>
        </p:nvPicPr>
        <p:blipFill>
          <a:blip r:embed="rId2" cstate="print">
            <a:extLst>
              <a:ext uri="{28A0092B-C50C-407E-A947-70E740481C1C}">
                <a14:useLocalDpi xmlns:a14="http://schemas.microsoft.com/office/drawing/2010/main" val="0"/>
              </a:ext>
            </a:extLst>
          </a:blip>
          <a:stretch>
            <a:fillRect/>
          </a:stretch>
        </p:blipFill>
        <p:spPr>
          <a:xfrm>
            <a:off x="33086041" y="11779671"/>
            <a:ext cx="6211304" cy="7845048"/>
          </a:xfrm>
        </p:spPr>
      </p:pic>
      <p:sp>
        <p:nvSpPr>
          <p:cNvPr id="71" name="Text Placeholder 70"/>
          <p:cNvSpPr>
            <a:spLocks noGrp="1"/>
          </p:cNvSpPr>
          <p:nvPr>
            <p:ph type="body" sz="quarter" idx="41"/>
          </p:nvPr>
        </p:nvSpPr>
        <p:spPr/>
        <p:txBody>
          <a:bodyPr/>
          <a:lstStyle/>
          <a:p>
            <a:r>
              <a:rPr lang="en-US" dirty="0"/>
              <a:t>Future Work</a:t>
            </a:r>
          </a:p>
        </p:txBody>
      </p:sp>
      <p:sp>
        <p:nvSpPr>
          <p:cNvPr id="15" name="Content Placeholder 14"/>
          <p:cNvSpPr>
            <a:spLocks noGrp="1"/>
          </p:cNvSpPr>
          <p:nvPr>
            <p:ph sz="quarter" idx="42"/>
          </p:nvPr>
        </p:nvSpPr>
        <p:spPr/>
        <p:txBody>
          <a:bodyPr/>
          <a:lstStyle/>
          <a:p>
            <a:r>
              <a:rPr lang="en-US" dirty="0"/>
              <a:t>Describe Future Work</a:t>
            </a:r>
          </a:p>
        </p:txBody>
      </p:sp>
      <p:sp>
        <p:nvSpPr>
          <p:cNvPr id="21" name="Text Placeholder 20"/>
          <p:cNvSpPr>
            <a:spLocks noGrp="1"/>
          </p:cNvSpPr>
          <p:nvPr>
            <p:ph type="body" sz="quarter" idx="34"/>
          </p:nvPr>
        </p:nvSpPr>
        <p:spPr/>
        <p:txBody>
          <a:bodyPr/>
          <a:lstStyle/>
          <a:p>
            <a:r>
              <a:rPr lang="en-US"/>
              <a:t>Works Cited</a:t>
            </a:r>
            <a:endParaRPr lang="en-US" dirty="0"/>
          </a:p>
        </p:txBody>
      </p:sp>
      <p:sp>
        <p:nvSpPr>
          <p:cNvPr id="22" name="Content Placeholder 21"/>
          <p:cNvSpPr>
            <a:spLocks noGrp="1"/>
          </p:cNvSpPr>
          <p:nvPr>
            <p:ph sz="quarter" idx="35"/>
          </p:nvPr>
        </p:nvSpPr>
        <p:spPr/>
        <p:txBody>
          <a:bodyPr/>
          <a:lstStyle/>
          <a:p>
            <a:r>
              <a:rPr lang="en-US" dirty="0"/>
              <a:t>Include print and electronic sources in alphabetical order</a:t>
            </a:r>
          </a:p>
        </p:txBody>
      </p:sp>
      <p:pic>
        <p:nvPicPr>
          <p:cNvPr id="14" name="Picture Placeholder 13" descr="Laces out on a football">
            <a:extLst>
              <a:ext uri="{FF2B5EF4-FFF2-40B4-BE49-F238E27FC236}">
                <a16:creationId xmlns:a16="http://schemas.microsoft.com/office/drawing/2014/main" id="{55F4468A-BD95-ED33-F17B-AD202F16153C}"/>
              </a:ext>
            </a:extLst>
          </p:cNvPr>
          <p:cNvPicPr>
            <a:picLocks noGrp="1" noChangeAspect="1"/>
          </p:cNvPicPr>
          <p:nvPr>
            <p:ph type="pic" sz="quarter" idx="43"/>
          </p:nvPr>
        </p:nvPicPr>
        <p:blipFill>
          <a:blip r:embed="rId3">
            <a:extLst>
              <a:ext uri="{28A0092B-C50C-407E-A947-70E740481C1C}">
                <a14:useLocalDpi xmlns:a14="http://schemas.microsoft.com/office/drawing/2010/main" val="0"/>
              </a:ext>
            </a:extLst>
          </a:blip>
          <a:srcRect t="25140" b="25140"/>
          <a:stretch/>
        </p:blipFill>
        <p:spPr/>
      </p:pic>
      <p:sp>
        <p:nvSpPr>
          <p:cNvPr id="10" name="Text Placeholder 9">
            <a:extLst>
              <a:ext uri="{FF2B5EF4-FFF2-40B4-BE49-F238E27FC236}">
                <a16:creationId xmlns:a16="http://schemas.microsoft.com/office/drawing/2014/main" id="{2252BFEF-49C5-9959-C3E6-B091CB2C364C}"/>
              </a:ext>
            </a:extLst>
          </p:cNvPr>
          <p:cNvSpPr>
            <a:spLocks noGrp="1"/>
          </p:cNvSpPr>
          <p:nvPr>
            <p:ph type="body" sz="quarter" idx="17"/>
          </p:nvPr>
        </p:nvSpPr>
        <p:spPr>
          <a:xfrm>
            <a:off x="1188720" y="11527430"/>
            <a:ext cx="12801600" cy="1219200"/>
          </a:xfrm>
        </p:spPr>
        <p:txBody>
          <a:bodyPr/>
          <a:lstStyle/>
          <a:p>
            <a:r>
              <a:rPr lang="en-US" dirty="0"/>
              <a:t>Design</a:t>
            </a:r>
          </a:p>
        </p:txBody>
      </p:sp>
      <p:sp>
        <p:nvSpPr>
          <p:cNvPr id="28" name="Content Placeholder 11">
            <a:extLst>
              <a:ext uri="{FF2B5EF4-FFF2-40B4-BE49-F238E27FC236}">
                <a16:creationId xmlns:a16="http://schemas.microsoft.com/office/drawing/2014/main" id="{E50E5B5E-DD9F-CFEA-93B8-500866A01D35}"/>
              </a:ext>
            </a:extLst>
          </p:cNvPr>
          <p:cNvSpPr txBox="1">
            <a:spLocks/>
          </p:cNvSpPr>
          <p:nvPr/>
        </p:nvSpPr>
        <p:spPr>
          <a:xfrm>
            <a:off x="1188720" y="12883195"/>
            <a:ext cx="12801600" cy="8884605"/>
          </a:xfrm>
          <a:prstGeom prst="rect">
            <a:avLst/>
          </a:prstGeom>
        </p:spPr>
        <p:txBody>
          <a:bodyPr vert="horz" lIns="91440" tIns="182880" rIns="91440" bIns="45720" rtlCol="0">
            <a:normAutofit fontScale="92500" lnSpcReduction="20000"/>
          </a:bodyPr>
          <a:lst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32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9pPr>
          </a:lstStyle>
          <a:p>
            <a:r>
              <a:rPr lang="en-US" sz="2800" dirty="0"/>
              <a:t>The design of my database is fully normalized and has a relational structure that intends to store and analyze football player performance data across a full season. This database model separates the data into 4 distinct tables. We can see the basic information for each player on the team, each game in the season, and the positions on the team. Using those three tables, they can be combined to get the 4th table that describes each player's stats for every game. The tables depend solely on their primary keys, following the Third Normal Form. For example, player details such as jersey number, height, and hometown are stored only once in the player table to prevent unnecessary duplication when generating statistics for multiple games</a:t>
            </a:r>
          </a:p>
          <a:p>
            <a:r>
              <a:rPr lang="en-US" sz="2800" dirty="0"/>
              <a:t>A key design choice I made was creating a junction table, </a:t>
            </a:r>
            <a:r>
              <a:rPr lang="en-US" sz="2800" dirty="0" err="1"/>
              <a:t>player_game_stats</a:t>
            </a:r>
            <a:r>
              <a:rPr lang="en-US" sz="2800" dirty="0"/>
              <a:t>, to represent the many-to-many relationship between players and games. To avoid this issue, the </a:t>
            </a:r>
            <a:r>
              <a:rPr lang="en-US" sz="2800" dirty="0" err="1"/>
              <a:t>player_game_stats</a:t>
            </a:r>
            <a:r>
              <a:rPr lang="en-US" sz="2800" dirty="0"/>
              <a:t> table has a composite primary key of </a:t>
            </a:r>
            <a:r>
              <a:rPr lang="en-US" sz="2800" dirty="0" err="1"/>
              <a:t>player_id</a:t>
            </a:r>
            <a:r>
              <a:rPr lang="en-US" sz="2800" dirty="0"/>
              <a:t> and </a:t>
            </a:r>
            <a:r>
              <a:rPr lang="en-US" sz="2800" dirty="0" err="1"/>
              <a:t>game_id</a:t>
            </a:r>
            <a:r>
              <a:rPr lang="en-US" sz="2800" dirty="0"/>
              <a:t>. This composite key is used to uniquely identify each performance entry. The </a:t>
            </a:r>
            <a:r>
              <a:rPr lang="en-US" sz="2800" dirty="0" err="1"/>
              <a:t>player_game_stats</a:t>
            </a:r>
            <a:r>
              <a:rPr lang="en-US" sz="2800" dirty="0"/>
              <a:t> table also limited the stats to the measurable performance metrics: rushing, receiving, passing, and touchdowns, which allows game-by-game analytics without repeating player or game attributes.</a:t>
            </a:r>
          </a:p>
          <a:p>
            <a:r>
              <a:rPr lang="en-US" sz="2800" dirty="0"/>
              <a:t>The database also normalizes player positions by storing them in a separate </a:t>
            </a:r>
            <a:r>
              <a:rPr lang="en-US" sz="2800" dirty="0" err="1"/>
              <a:t>player_position</a:t>
            </a:r>
            <a:r>
              <a:rPr lang="en-US" sz="2800" dirty="0"/>
              <a:t> table. I could have kept the full position name for each player, but I decided to create a whole table for the position. The </a:t>
            </a:r>
            <a:r>
              <a:rPr lang="en-US" sz="2800" dirty="0" err="1"/>
              <a:t>position_id</a:t>
            </a:r>
            <a:r>
              <a:rPr lang="en-US" sz="2800" dirty="0"/>
              <a:t> serves as a foreign key in the player table that references a single record in the </a:t>
            </a:r>
            <a:r>
              <a:rPr lang="en-US" sz="2800" dirty="0" err="1"/>
              <a:t>player_position</a:t>
            </a:r>
            <a:r>
              <a:rPr lang="en-US" sz="2800" dirty="0"/>
              <a:t> table. Making this choice avoids inconsistency in position naming, makes updates easier, and maintains referential integrity. Overall, the design enforces clean separation of entities while supporting flexible reporting and efficient statistical queries.</a:t>
            </a:r>
          </a:p>
          <a:p>
            <a:endParaRPr lang="en-US" sz="2800" dirty="0"/>
          </a:p>
        </p:txBody>
      </p:sp>
      <p:pic>
        <p:nvPicPr>
          <p:cNvPr id="38" name="Content Placeholder 37">
            <a:extLst>
              <a:ext uri="{FF2B5EF4-FFF2-40B4-BE49-F238E27FC236}">
                <a16:creationId xmlns:a16="http://schemas.microsoft.com/office/drawing/2014/main" id="{A6618AD1-6329-1537-7E79-86A1C8B3CB34}"/>
              </a:ext>
            </a:extLst>
          </p:cNvPr>
          <p:cNvPicPr>
            <a:picLocks noGrp="1" noChangeAspect="1"/>
          </p:cNvPicPr>
          <p:nvPr>
            <p:ph sz="quarter" idx="26"/>
          </p:nvPr>
        </p:nvPicPr>
        <p:blipFill>
          <a:blip r:embed="rId4">
            <a:extLst>
              <a:ext uri="{28A0092B-C50C-407E-A947-70E740481C1C}">
                <a14:useLocalDpi xmlns:a14="http://schemas.microsoft.com/office/drawing/2010/main" val="0"/>
              </a:ext>
            </a:extLst>
          </a:blip>
          <a:srcRect/>
          <a:stretch/>
        </p:blipFill>
        <p:spPr>
          <a:xfrm>
            <a:off x="5195714" y="23828630"/>
            <a:ext cx="4786486" cy="8270902"/>
          </a:xfrm>
        </p:spPr>
      </p:pic>
      <p:sp>
        <p:nvSpPr>
          <p:cNvPr id="41" name="Content Placeholder 16">
            <a:extLst>
              <a:ext uri="{FF2B5EF4-FFF2-40B4-BE49-F238E27FC236}">
                <a16:creationId xmlns:a16="http://schemas.microsoft.com/office/drawing/2014/main" id="{3827A9AE-824D-EFA3-9385-3D8D1D0E98F0}"/>
              </a:ext>
            </a:extLst>
          </p:cNvPr>
          <p:cNvSpPr txBox="1">
            <a:spLocks/>
          </p:cNvSpPr>
          <p:nvPr/>
        </p:nvSpPr>
        <p:spPr>
          <a:xfrm>
            <a:off x="15544800" y="7049509"/>
            <a:ext cx="12801600" cy="7072117"/>
          </a:xfrm>
          <a:prstGeom prst="rect">
            <a:avLst/>
          </a:prstGeom>
        </p:spPr>
        <p:txBody>
          <a:bodyPr vert="horz" lIns="91440" tIns="182880" rIns="91440" bIns="45720" rtlCol="0">
            <a:normAutofit fontScale="70000" lnSpcReduction="20000"/>
          </a:bodyPr>
          <a:lst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3200" kern="1200" baseline="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9pPr>
          </a:lstStyle>
          <a:p>
            <a:r>
              <a:rPr lang="en-US" b="1" dirty="0"/>
              <a:t>Player</a:t>
            </a:r>
          </a:p>
          <a:p>
            <a:r>
              <a:rPr lang="en-US" dirty="0"/>
              <a:t>The player table stores personal and static information for each football player, such as name, class year, hometown, physical attributes, and jersey number. It links to the </a:t>
            </a:r>
            <a:r>
              <a:rPr lang="en-US" dirty="0" err="1"/>
              <a:t>player_position</a:t>
            </a:r>
            <a:r>
              <a:rPr lang="en-US" dirty="0"/>
              <a:t> table through a foreign key to classify each player. Each entry represents one unique athlete in the system.</a:t>
            </a:r>
          </a:p>
          <a:p>
            <a:r>
              <a:rPr lang="en-US" b="1" dirty="0" err="1"/>
              <a:t>Player_Position</a:t>
            </a:r>
            <a:endParaRPr lang="en-US" b="1" dirty="0"/>
          </a:p>
          <a:p>
            <a:r>
              <a:rPr lang="en-US" dirty="0"/>
              <a:t>The </a:t>
            </a:r>
            <a:r>
              <a:rPr lang="en-US" dirty="0" err="1"/>
              <a:t>player_position</a:t>
            </a:r>
            <a:r>
              <a:rPr lang="en-US" dirty="0"/>
              <a:t> table defines the set of football positions, each assigned to an ID number. Storing these in a separate table prevents duplication and ensures consistency. It is referenced by the player table to assign each player exactly one position category.</a:t>
            </a:r>
          </a:p>
          <a:p>
            <a:r>
              <a:rPr lang="en-US" b="1" dirty="0"/>
              <a:t>Game</a:t>
            </a:r>
          </a:p>
          <a:p>
            <a:r>
              <a:rPr lang="en-US" dirty="0"/>
              <a:t>The game table contains information on each scheduled game, including the date, opponent, location, and final scores. It serves as the parent entity for all statistics recorded during that game. Each entry represents one unique matchup.</a:t>
            </a:r>
          </a:p>
          <a:p>
            <a:r>
              <a:rPr lang="en-US" b="1" dirty="0" err="1"/>
              <a:t>Player_Game_Stats</a:t>
            </a:r>
            <a:endParaRPr lang="en-US" b="1" dirty="0"/>
          </a:p>
          <a:p>
            <a:r>
              <a:rPr lang="en-US" dirty="0"/>
              <a:t>The </a:t>
            </a:r>
            <a:r>
              <a:rPr lang="en-US" dirty="0" err="1"/>
              <a:t>player_game_stats</a:t>
            </a:r>
            <a:r>
              <a:rPr lang="en-US" dirty="0"/>
              <a:t> table records all performance statistics for a single player in a single game. Because players participate in multiple games, and games include multiple players, this table resolves the many-to-many relationship between player and game tables. It includes rushing, receiving, passing yards, touchdowns, and whether the player participated in that game. A player having zero stats because they did not participate means something different than a player having zero stats while playing.</a:t>
            </a:r>
          </a:p>
        </p:txBody>
      </p:sp>
      <p:pic>
        <p:nvPicPr>
          <p:cNvPr id="25" name="Content Placeholder 24" descr="A graph of numbers and columns&#10;&#10;AI-generated content may be incorrect.">
            <a:extLst>
              <a:ext uri="{FF2B5EF4-FFF2-40B4-BE49-F238E27FC236}">
                <a16:creationId xmlns:a16="http://schemas.microsoft.com/office/drawing/2014/main" id="{23FE1078-752E-3AD4-B4D3-B2005825E7A4}"/>
              </a:ext>
            </a:extLst>
          </p:cNvPr>
          <p:cNvPicPr>
            <a:picLocks noGrp="1" noChangeAspect="1"/>
          </p:cNvPicPr>
          <p:nvPr>
            <p:ph sz="quarter" idx="32"/>
          </p:nvPr>
        </p:nvPicPr>
        <p:blipFill>
          <a:blip r:embed="rId5" cstate="print">
            <a:extLst>
              <a:ext uri="{28A0092B-C50C-407E-A947-70E740481C1C}">
                <a14:useLocalDpi xmlns:a14="http://schemas.microsoft.com/office/drawing/2010/main" val="0"/>
              </a:ext>
            </a:extLst>
          </a:blip>
          <a:stretch>
            <a:fillRect/>
          </a:stretch>
        </p:blipFill>
        <p:spPr>
          <a:xfrm>
            <a:off x="32717472" y="7049509"/>
            <a:ext cx="7168411" cy="4702278"/>
          </a:xfrm>
        </p:spPr>
      </p:pic>
    </p:spTree>
    <p:extLst>
      <p:ext uri="{BB962C8B-B14F-4D97-AF65-F5344CB8AC3E}">
        <p14:creationId xmlns:p14="http://schemas.microsoft.com/office/powerpoint/2010/main" val="931198942"/>
      </p:ext>
    </p:extLst>
  </p:cSld>
  <p:clrMapOvr>
    <a:masterClrMapping/>
  </p:clrMapOvr>
</p:sld>
</file>

<file path=ppt/theme/theme1.xml><?xml version="1.0" encoding="utf-8"?>
<a:theme xmlns:a="http://schemas.openxmlformats.org/drawingml/2006/main" name="Science Poster">
  <a:themeElements>
    <a:clrScheme name="Science Poster">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spPr>
      <a:bodyPr rtlCol="0" anchor="ctr"/>
      <a:lstStyle>
        <a:defPPr algn="ctr">
          <a:defRPr sz="6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6000" dirty="0" err="1" smtClean="0"/>
        </a:defPPr>
      </a:lstStyle>
    </a:txDef>
  </a:objectDefaults>
  <a:extraClrSchemeLst/>
  <a:extLst>
    <a:ext uri="{05A4C25C-085E-4340-85A3-A5531E510DB2}">
      <thm15:themeFamily xmlns:thm15="http://schemas.microsoft.com/office/thememl/2012/main" name="Presentation2" id="{A3AC1795-03CA-4218-8E9C-394F2C72EB71}" vid="{9E91E023-53D0-48CE-AFD1-CE3DA49243D0}"/>
    </a:ext>
  </a:extLst>
</a:theme>
</file>

<file path=ppt/theme/theme2.xml><?xml version="1.0" encoding="utf-8"?>
<a:theme xmlns:a="http://schemas.openxmlformats.org/drawingml/2006/main" name="Office Theme">
  <a:themeElements>
    <a:clrScheme name="Science Poster">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cience Poster">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99B7E175-EA31-4EB5-9BCC-A945A810367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Science project poster</Template>
  <TotalTime>0</TotalTime>
  <Words>1184</Words>
  <Application>Microsoft Office PowerPoint</Application>
  <PresentationFormat>Custom</PresentationFormat>
  <Paragraphs>57</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 Light</vt:lpstr>
      <vt:lpstr>Science Poster</vt:lpstr>
      <vt:lpstr>2024 Ohio State Offensive Players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2016-11-28T02:36:27Z</dcterms:created>
  <dcterms:modified xsi:type="dcterms:W3CDTF">2025-12-05T15:31:00Z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TC040013439991</vt:lpwstr>
  </property>
</Properties>
</file>